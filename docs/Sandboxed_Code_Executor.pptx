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b0875a3-c7f6-c6a1-49ba-88a310c0510a}">
          <p14:sldIdLst>
            <p14:sldId id="256"/>
            <p14:sldId id="257"/>
            <p14:sldId id="258"/>
            <p14:sldId id="259"/>
          </p14:sldIdLst>
        </p14:section>
        <p14:section name="How one run works" id="{9bf47c70-b776-8e9e-31d1-4f7e866008f4}">
          <p14:sldIdLst>
            <p14:sldId id="260"/>
            <p14:sldId id="261"/>
            <p14:sldId id="262"/>
            <p14:sldId id="263"/>
          </p14:sldIdLst>
        </p14:section>
        <p14:section name="Safety layers" id="{47eb7af8-7d92-ef8a-ce36-278e606ebf48}">
          <p14:sldIdLst>
            <p14:sldId id="264"/>
            <p14:sldId id="265"/>
            <p14:sldId id="266"/>
            <p14:sldId id="267"/>
          </p14:sldIdLst>
        </p14:section>
        <p14:section name="Agent and production" id="{434ce910-8453-240c-96fa-887a2ca99167}">
          <p14:sldIdLst>
            <p14:sldId id="268"/>
            <p14:sldId id="269"/>
            <p14:sldId id="270"/>
            <p14:sldId id="271"/>
          </p14:sldIdLst>
        </p14:section>
        <p14:section name="Results" id="{f9317658-5bea-00d2-f245-368626fa9c42}">
          <p14:sldIdLst>
            <p14:sldId id="272"/>
          </p14:sldIdLst>
        </p14:section>
        <p14:section name="Run it yourself" id="{efe2b231-eacb-ec51-9412-06eae3eb65dd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Summary" id="{0c40cdb6-d088-2af0-492e-5f4aad9bc94d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Project 4 of agent-lab: a sandbox that lets an AI agent write and run Python without endangering the machine it runs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LLM-written code must be treated as hostile. These four harms are what the sandbox prevents.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parts: the agent loop, the sandbox itself, and an optional executor service for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writes code through the run_python tool. The sandbox interface hides which backend runs it. Docker is the default, Remote is for production, Local is only for tests because it has no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steps. The important ideas: nothing is shared with the container except stdin, and the host never trusts what comes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runner.py uses only the Python standard library. The container root is read-only; only two small RAM disks are writable, and both disappear when the container is deleted.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2 of the design: everything coming out of the sandbox is untrusted. A forged line lacks the nonce, so it is ignored.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nested walls: the host, the container, and an unprivileged user. Each one blocks the targets on the right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dangers and the layer that stops each one. The full list with Docker flags is in docs/SECURITY.md.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 checks run before code executes. A missing image gives an actionable message: run docker build -t agentkit-sandbox:dev sandbox_image/.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step is recorded: code, status and duration. Charts made in one step become files later steps can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RemoteSandbox retries only when the connection was never made, so a run is never executed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is decided by the host, not the code. Example code on the right triggers each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demo_attacks.py runs all fifteen attacks; pytest -m docker asserts the same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Docker, plain pytest still passes the 111 unit tests and skips the Docker tests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output captured on the build machine, with the time column removed for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on the right was generated inside the Docker sandbox by the demo and returned as an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macOS or Linux use export AGENTKIT_EXECUTOR_TOKEN=... and plain curl. GET /readyz returns {"status":"ready"} when Docker and the image are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problems actually hit while building the project, including the PyPI timeout during the image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limits: containers share the host kernel, so use gVisor or microVMs for untrusted multi-tenant use, and remember the Docker socket equals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agent-lab  |  Sandboxed Code Executor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slideLayout" Target="../slideLayouts/slideLayout4.xml"/><Relationship Id="rId1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Sandboxed Code Executor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Running AI-written Python safely: how it works, how it protects you, and how to run it</a:t>
            </a:r>
            <a:endParaRPr lang="en-US" sz="2200" dirty="0"/>
          </a:p>
        </p:txBody>
      </p:sp>
      <p:sp>
        <p:nvSpPr>
          <p:cNvPr id="4" name="icon-circle-FaShieldAlt"/>
          <p:cNvSpPr/>
          <p:nvPr/>
        </p:nvSpPr>
        <p:spPr>
          <a:xfrm>
            <a:off x="731520" y="7315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Shield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972922"/>
            <a:ext cx="523037" cy="5230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agent-lab  |  Project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AI can write code, but running it is risky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Ask an assistant “what was our best sales month? draw me a chart” and it writes Python. Something has to run that code, and the code is untrusted.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It may be buggy, or hijacked by prompt injection hidden in a file or web page the AI read.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Goal: code goes in, results come out, and nothing inside can touch your computer.</a:t>
            </a:r>
            <a:endParaRPr lang="en-US" sz="1800" dirty="0"/>
          </a:p>
        </p:txBody>
      </p:sp>
      <p:sp>
        <p:nvSpPr>
          <p:cNvPr id="6" name="card"/>
          <p:cNvSpPr/>
          <p:nvPr/>
        </p:nvSpPr>
        <p:spPr>
          <a:xfrm>
            <a:off x="6035040" y="137160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icon-circle-FaFolderOpen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FolderOpe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1539" y="1708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1527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 your files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SSH keys, source code, documents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256032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icon-circle-FaKey"/>
          <p:cNvSpPr/>
          <p:nvPr/>
        </p:nvSpPr>
        <p:spPr>
          <a:xfrm>
            <a:off x="6217920" y="274320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1" descr="Ke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39" y="289681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27157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Steal secrets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3081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API keys in environment variables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035040" y="374904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icon-circle-FaGlobe"/>
          <p:cNvSpPr/>
          <p:nvPr/>
        </p:nvSpPr>
        <p:spPr>
          <a:xfrm>
            <a:off x="6217920" y="3931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mage 2" descr="Glo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408553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86600" y="3904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 the internet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086600" y="42702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Send your data anywhere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6035040" y="493776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icon-circle-FaMemory"/>
          <p:cNvSpPr/>
          <p:nvPr/>
        </p:nvSpPr>
        <p:spPr>
          <a:xfrm>
            <a:off x="6217920" y="5120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mage 3" descr="Memor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39" y="527425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86600" y="5093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Exhaust the machine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086600" y="5458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Endless loops, memory and process bombs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solution: a safe room with three building blocks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Like a bank’s cash-counting machine behind thick glass: pass work through a slot, get a receipt back, never reach inside.</a:t>
            </a:r>
            <a:endParaRPr lang="en-US" sz="1800" dirty="0"/>
          </a:p>
        </p:txBody>
      </p:sp>
      <p:sp>
        <p:nvSpPr>
          <p:cNvPr id="4" name="card"/>
          <p:cNvSpPr/>
          <p:nvPr/>
        </p:nvSpPr>
        <p:spPr>
          <a:xfrm>
            <a:off x="548640" y="2148840"/>
            <a:ext cx="3474720" cy="384048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icon-circle-FaRobot"/>
          <p:cNvSpPr/>
          <p:nvPr/>
        </p:nvSpPr>
        <p:spPr>
          <a:xfrm>
            <a:off x="868680" y="242316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Robo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6426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Agent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Asks the AI for code, runs it, shows the AI the result, repeats until there is an answer.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440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agentkit/agents/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343400" y="2148840"/>
            <a:ext cx="3474720" cy="384048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icon-circle-FaShieldAlt"/>
          <p:cNvSpPr/>
          <p:nvPr/>
        </p:nvSpPr>
        <p:spPr>
          <a:xfrm>
            <a:off x="4663440" y="24231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Shield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64261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Sandbox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Runs one piece of code inside a throwaway, locked-down Docker container.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5440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agentkit/sandbox/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8138160" y="2148840"/>
            <a:ext cx="3474720" cy="384048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icon-circle-FaServer"/>
          <p:cNvSpPr/>
          <p:nvPr/>
        </p:nvSpPr>
        <p:spPr>
          <a:xfrm>
            <a:off x="8458200" y="24231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2" descr="Serv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64261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Executor service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web server that owns the sandbox, so the agent never controls Docker directly.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5440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services/executor/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big picture</a:t>
            </a:r>
            <a:endParaRPr lang="en-US" sz="3400" dirty="0"/>
          </a:p>
        </p:txBody>
      </p:sp>
      <p:sp>
        <p:nvSpPr>
          <p:cNvPr id="3" name="node"/>
          <p:cNvSpPr txBox="1"/>
          <p:nvPr/>
        </p:nvSpPr>
        <p:spPr>
          <a:xfrm>
            <a:off x="548640" y="251460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asks a question</a:t>
            </a:r>
            <a:endParaRPr lang="en-US" sz="1400" dirty="0"/>
          </a:p>
        </p:txBody>
      </p:sp>
      <p:sp>
        <p:nvSpPr>
          <p:cNvPr id="4" name="node"/>
          <p:cNvSpPr txBox="1"/>
          <p:nvPr/>
        </p:nvSpPr>
        <p:spPr>
          <a:xfrm>
            <a:off x="2697480" y="2514600"/>
            <a:ext cx="146304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agent</a:t>
            </a:r>
            <a:endParaRPr lang="en-US" sz="1400" dirty="0"/>
          </a:p>
        </p:txBody>
      </p:sp>
      <p:sp>
        <p:nvSpPr>
          <p:cNvPr id="5" name="node"/>
          <p:cNvSpPr txBox="1"/>
          <p:nvPr/>
        </p:nvSpPr>
        <p:spPr>
          <a:xfrm>
            <a:off x="4663440" y="2514600"/>
            <a:ext cx="164592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run_python tool</a:t>
            </a:r>
            <a:endParaRPr lang="en-US" sz="1400" dirty="0"/>
          </a:p>
        </p:txBody>
      </p:sp>
      <p:sp>
        <p:nvSpPr>
          <p:cNvPr id="6" name="node"/>
          <p:cNvSpPr txBox="1"/>
          <p:nvPr/>
        </p:nvSpPr>
        <p:spPr>
          <a:xfrm>
            <a:off x="6812280" y="251460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Sandbox interface</a:t>
            </a:r>
            <a:endParaRPr lang="en-US" sz="1400" dirty="0"/>
          </a:p>
        </p:txBody>
      </p:sp>
      <p:sp>
        <p:nvSpPr>
          <p:cNvPr id="7" name="node"/>
          <p:cNvSpPr txBox="1"/>
          <p:nvPr/>
        </p:nvSpPr>
        <p:spPr>
          <a:xfrm>
            <a:off x="8961120" y="132588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DockerSandbox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throwaway container (default)</a:t>
            </a:r>
            <a:endParaRPr lang="en-US" sz="1300" dirty="0"/>
          </a:p>
        </p:txBody>
      </p:sp>
      <p:sp>
        <p:nvSpPr>
          <p:cNvPr id="8" name="node"/>
          <p:cNvSpPr txBox="1"/>
          <p:nvPr/>
        </p:nvSpPr>
        <p:spPr>
          <a:xfrm>
            <a:off x="8961120" y="249174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RemoteSandbox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HTTP to executor (production)</a:t>
            </a:r>
            <a:endParaRPr lang="en-US" sz="1300" dirty="0"/>
          </a:p>
        </p:txBody>
      </p:sp>
      <p:sp>
        <p:nvSpPr>
          <p:cNvPr id="9" name="node"/>
          <p:cNvSpPr txBox="1"/>
          <p:nvPr/>
        </p:nvSpPr>
        <p:spPr>
          <a:xfrm>
            <a:off x="8961120" y="3657600"/>
            <a:ext cx="26517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LocalSubprocessSandbox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UNSAFE, tests only</a:t>
            </a:r>
            <a:endParaRPr lang="en-US" sz="1300" dirty="0"/>
          </a:p>
        </p:txBody>
      </p:sp>
      <p:sp>
        <p:nvSpPr>
          <p:cNvPr id="10" name="node"/>
          <p:cNvSpPr txBox="1"/>
          <p:nvPr/>
        </p:nvSpPr>
        <p:spPr>
          <a:xfrm>
            <a:off x="4663440" y="5212080"/>
            <a:ext cx="31089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Result: status, output, charts</a:t>
            </a:r>
            <a:endParaRPr lang="en-US" sz="1400" dirty="0"/>
          </a:p>
        </p:txBody>
      </p:sp>
      <p:sp>
        <p:nvSpPr>
          <p:cNvPr id="11" name="connector"/>
          <p:cNvSpPr/>
          <p:nvPr/>
        </p:nvSpPr>
        <p:spPr>
          <a:xfrm>
            <a:off x="2194560" y="2926080"/>
            <a:ext cx="5029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connector"/>
          <p:cNvSpPr/>
          <p:nvPr/>
        </p:nvSpPr>
        <p:spPr>
          <a:xfrm>
            <a:off x="4160520" y="2926080"/>
            <a:ext cx="5029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657600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writes Python</a:t>
            </a:r>
            <a:endParaRPr lang="en-US" sz="1200" dirty="0"/>
          </a:p>
        </p:txBody>
      </p:sp>
      <p:sp>
        <p:nvSpPr>
          <p:cNvPr id="14" name="connector"/>
          <p:cNvSpPr/>
          <p:nvPr/>
        </p:nvSpPr>
        <p:spPr>
          <a:xfrm>
            <a:off x="6309360" y="2926080"/>
            <a:ext cx="5029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connector"/>
          <p:cNvSpPr/>
          <p:nvPr/>
        </p:nvSpPr>
        <p:spPr>
          <a:xfrm flipV="1">
            <a:off x="8366760" y="1755648"/>
            <a:ext cx="594360" cy="117043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connector"/>
          <p:cNvSpPr/>
          <p:nvPr/>
        </p:nvSpPr>
        <p:spPr>
          <a:xfrm>
            <a:off x="8366760" y="2926080"/>
            <a:ext cx="5943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connector"/>
          <p:cNvSpPr/>
          <p:nvPr/>
        </p:nvSpPr>
        <p:spPr>
          <a:xfrm>
            <a:off x="8366760" y="2926080"/>
            <a:ext cx="594360" cy="1161288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18" name="connector"/>
          <p:cNvSpPr/>
          <p:nvPr/>
        </p:nvSpPr>
        <p:spPr>
          <a:xfrm>
            <a:off x="10287000" y="4526280"/>
            <a:ext cx="0" cy="10515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9" name="connector"/>
          <p:cNvSpPr/>
          <p:nvPr/>
        </p:nvSpPr>
        <p:spPr>
          <a:xfrm flipH="1">
            <a:off x="7772400" y="5577840"/>
            <a:ext cx="25146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connector"/>
          <p:cNvSpPr/>
          <p:nvPr/>
        </p:nvSpPr>
        <p:spPr>
          <a:xfrm flipH="1">
            <a:off x="3429000" y="5577840"/>
            <a:ext cx="12344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1" name="connector"/>
          <p:cNvSpPr/>
          <p:nvPr/>
        </p:nvSpPr>
        <p:spPr>
          <a:xfrm flipV="1">
            <a:off x="3429000" y="3337560"/>
            <a:ext cx="0" cy="22402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22960" y="5669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short summary back to the AI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How one run works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From the AI’s reply to a checked result</a:t>
            </a:r>
            <a:endParaRPr lang="en-US" sz="1800" dirty="0"/>
          </a:p>
        </p:txBody>
      </p:sp>
      <p:sp>
        <p:nvSpPr>
          <p:cNvPr id="4" name="icon-circle-FaCogs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Co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613002"/>
            <a:ext cx="523037" cy="5230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journey of one piece of code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step-number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replies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 a tool call written as JSON</a:t>
            </a:r>
            <a:endParaRPr lang="en-US" sz="1400" dirty="0"/>
          </a:p>
        </p:txBody>
      </p:sp>
      <p:sp>
        <p:nvSpPr>
          <p:cNvPr id="7" name="connector"/>
          <p:cNvSpPr/>
          <p:nvPr/>
        </p:nvSpPr>
        <p:spPr>
          <a:xfrm>
            <a:off x="3035808" y="244144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card"/>
          <p:cNvSpPr/>
          <p:nvPr/>
        </p:nvSpPr>
        <p:spPr>
          <a:xfrm>
            <a:off x="338328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step-number"/>
          <p:cNvSpPr txBox="1"/>
          <p:nvPr/>
        </p:nvSpPr>
        <p:spPr>
          <a:xfrm>
            <a:off x="3611880" y="169164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Agent checks it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broken reply? the AI is told and retries</a:t>
            </a:r>
            <a:endParaRPr lang="en-US" sz="1400" dirty="0"/>
          </a:p>
        </p:txBody>
      </p:sp>
      <p:sp>
        <p:nvSpPr>
          <p:cNvPr id="12" name="connector"/>
          <p:cNvSpPr/>
          <p:nvPr/>
        </p:nvSpPr>
        <p:spPr>
          <a:xfrm>
            <a:off x="5870448" y="244144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card"/>
          <p:cNvSpPr/>
          <p:nvPr/>
        </p:nvSpPr>
        <p:spPr>
          <a:xfrm>
            <a:off x="621792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step-number"/>
          <p:cNvSpPr txBox="1"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Limits checked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 much code or files: status rejected</a:t>
            </a:r>
            <a:endParaRPr lang="en-US" sz="1400" dirty="0"/>
          </a:p>
        </p:txBody>
      </p:sp>
      <p:sp>
        <p:nvSpPr>
          <p:cNvPr id="17" name="connector"/>
          <p:cNvSpPr/>
          <p:nvPr/>
        </p:nvSpPr>
        <p:spPr>
          <a:xfrm>
            <a:off x="8705088" y="244144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9052560" y="1463040"/>
            <a:ext cx="24688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step-number"/>
          <p:cNvSpPr txBox="1"/>
          <p:nvPr/>
        </p:nvSpPr>
        <p:spPr>
          <a:xfrm>
            <a:off x="9281160" y="169164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3774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Wait for a slot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running at once, 16 queued, then busy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548640" y="3886200"/>
            <a:ext cx="24688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step-number"/>
          <p:cNvSpPr txBox="1"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Fresh container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one per run, every lock switched on</a:t>
            </a:r>
            <a:endParaRPr lang="en-US" sz="1400" dirty="0"/>
          </a:p>
        </p:txBody>
      </p:sp>
      <p:sp>
        <p:nvSpPr>
          <p:cNvPr id="26" name="connector"/>
          <p:cNvSpPr/>
          <p:nvPr/>
        </p:nvSpPr>
        <p:spPr>
          <a:xfrm>
            <a:off x="3035808" y="486460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card"/>
          <p:cNvSpPr/>
          <p:nvPr/>
        </p:nvSpPr>
        <p:spPr>
          <a:xfrm>
            <a:off x="3383280" y="3886200"/>
            <a:ext cx="24688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step-number"/>
          <p:cNvSpPr txBox="1"/>
          <p:nvPr/>
        </p:nvSpPr>
        <p:spPr>
          <a:xfrm>
            <a:off x="3611880" y="41148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Code goes in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via stdin: no folders are shared</a:t>
            </a:r>
            <a:endParaRPr lang="en-US" sz="1400" dirty="0"/>
          </a:p>
        </p:txBody>
      </p:sp>
      <p:sp>
        <p:nvSpPr>
          <p:cNvPr id="31" name="connector"/>
          <p:cNvSpPr/>
          <p:nvPr/>
        </p:nvSpPr>
        <p:spPr>
          <a:xfrm>
            <a:off x="5870448" y="486460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card"/>
          <p:cNvSpPr/>
          <p:nvPr/>
        </p:nvSpPr>
        <p:spPr>
          <a:xfrm>
            <a:off x="6217920" y="3886200"/>
            <a:ext cx="24688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step-number"/>
          <p:cNvSpPr txBox="1"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Runner runs it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4652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 a timer; collects output and charts</a:t>
            </a:r>
            <a:endParaRPr lang="en-US" sz="1400" dirty="0"/>
          </a:p>
        </p:txBody>
      </p:sp>
      <p:sp>
        <p:nvSpPr>
          <p:cNvPr id="36" name="connector"/>
          <p:cNvSpPr/>
          <p:nvPr/>
        </p:nvSpPr>
        <p:spPr>
          <a:xfrm>
            <a:off x="8705088" y="486460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card"/>
          <p:cNvSpPr/>
          <p:nvPr/>
        </p:nvSpPr>
        <p:spPr>
          <a:xfrm>
            <a:off x="9052560" y="3886200"/>
            <a:ext cx="24688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step-number"/>
          <p:cNvSpPr txBox="1"/>
          <p:nvPr/>
        </p:nvSpPr>
        <p:spPr>
          <a:xfrm>
            <a:off x="9281160" y="41148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8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Host double-checks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928116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secret code, format, sizes; container deleted</a:t>
            </a:r>
            <a:endParaRPr lang="en-US" sz="1400" dirty="0"/>
          </a:p>
        </p:txBody>
      </p:sp>
      <p:sp>
        <p:nvSpPr>
          <p:cNvPr id="41" name="connector"/>
          <p:cNvSpPr/>
          <p:nvPr/>
        </p:nvSpPr>
        <p:spPr>
          <a:xfrm>
            <a:off x="10835640" y="3447288"/>
            <a:ext cx="0" cy="21031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2" name="connector"/>
          <p:cNvSpPr/>
          <p:nvPr/>
        </p:nvSpPr>
        <p:spPr>
          <a:xfrm flipH="1">
            <a:off x="1783080" y="3657600"/>
            <a:ext cx="90525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3" name="connector"/>
          <p:cNvSpPr/>
          <p:nvPr/>
        </p:nvSpPr>
        <p:spPr>
          <a:xfrm>
            <a:off x="1783080" y="3657600"/>
            <a:ext cx="0" cy="21031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Inside the container: what runner.py does</a:t>
            </a:r>
            <a:endParaRPr lang="en-US" sz="3400" dirty="0"/>
          </a:p>
        </p:txBody>
      </p:sp>
      <p:sp>
        <p:nvSpPr>
          <p:cNvPr id="3" name="icon-circle-FaFileCode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mage 0" descr="FileCo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507663"/>
            <a:ext cx="294803" cy="294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813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Writes main.py and input files into /workspace</a:t>
            </a:r>
            <a:endParaRPr lang="en-US" sz="1700" dirty="0"/>
          </a:p>
        </p:txBody>
      </p:sp>
      <p:sp>
        <p:nvSpPr>
          <p:cNvPr id="6" name="icon-circle-FaHourglassHalf"/>
          <p:cNvSpPr/>
          <p:nvPr/>
        </p:nvSpPr>
        <p:spPr>
          <a:xfrm>
            <a:off x="548640" y="2176272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mage 1" descr="HourglassHalf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312335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86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Runs the code with a timer (default 10 s)</a:t>
            </a:r>
            <a:endParaRPr lang="en-US" sz="1700" dirty="0"/>
          </a:p>
        </p:txBody>
      </p:sp>
      <p:sp>
        <p:nvSpPr>
          <p:cNvPr id="9" name="icon-circle-FaTerminal"/>
          <p:cNvSpPr/>
          <p:nvPr/>
        </p:nvSpPr>
        <p:spPr>
          <a:xfrm>
            <a:off x="548640" y="2980944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2" descr="Termin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117007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0906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Keeps the first and last 32 KB of output</a:t>
            </a:r>
            <a:endParaRPr lang="en-US" sz="1700" dirty="0"/>
          </a:p>
        </p:txBody>
      </p:sp>
      <p:sp>
        <p:nvSpPr>
          <p:cNvPr id="12" name="icon-circle-FaChartLine"/>
          <p:cNvSpPr/>
          <p:nvPr/>
        </p:nvSpPr>
        <p:spPr>
          <a:xfrm>
            <a:off x="548640" y="3785616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mage 3" descr="ChartLin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921679"/>
            <a:ext cx="294803" cy="29480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38953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Collects real files from output/ (no shortcuts)</a:t>
            </a:r>
            <a:endParaRPr lang="en-US" sz="1700" dirty="0"/>
          </a:p>
        </p:txBody>
      </p:sp>
      <p:sp>
        <p:nvSpPr>
          <p:cNvPr id="15" name="icon-circle-FaSkull"/>
          <p:cNvSpPr/>
          <p:nvPr/>
        </p:nvSpPr>
        <p:spPr>
          <a:xfrm>
            <a:off x="548640" y="4590288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4" descr="Skul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4726351"/>
            <a:ext cx="294803" cy="29480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700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Kills every leftover background process</a:t>
            </a:r>
            <a:endParaRPr lang="en-US" sz="1700" dirty="0"/>
          </a:p>
        </p:txBody>
      </p:sp>
      <p:sp>
        <p:nvSpPr>
          <p:cNvPr id="18" name="icon-circle-FaFingerprint"/>
          <p:cNvSpPr/>
          <p:nvPr/>
        </p:nvSpPr>
        <p:spPr>
          <a:xfrm>
            <a:off x="548640" y="539496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9" name="Image 5" descr="Fingerprin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5531023"/>
            <a:ext cx="294803" cy="29480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325880" y="5504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Prints ONE result line tagged with a secret code</a:t>
            </a:r>
            <a:endParaRPr lang="en-US" sz="1700" dirty="0"/>
          </a:p>
        </p:txBody>
      </p:sp>
      <p:sp>
        <p:nvSpPr>
          <p:cNvPr id="21" name="card"/>
          <p:cNvSpPr/>
          <p:nvPr/>
        </p:nvSpPr>
        <p:spPr>
          <a:xfrm>
            <a:off x="6675120" y="1371600"/>
            <a:ext cx="4937760" cy="4709160"/>
          </a:xfrm>
          <a:prstGeom prst="roundRect">
            <a:avLst>
              <a:gd name="adj" fmla="val 15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container’s filesystem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694944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400" dirty="0"/>
          </a:p>
        </p:txBody>
      </p:sp>
      <p:sp>
        <p:nvSpPr>
          <p:cNvPr id="24" name="fs-dot"/>
          <p:cNvSpPr/>
          <p:nvPr/>
        </p:nvSpPr>
        <p:spPr>
          <a:xfrm>
            <a:off x="9281160" y="2240280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9555480" y="21488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read-only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6949440" y="2761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/workspace</a:t>
            </a:r>
            <a:endParaRPr lang="en-US" sz="1400" dirty="0"/>
          </a:p>
        </p:txBody>
      </p:sp>
      <p:sp>
        <p:nvSpPr>
          <p:cNvPr id="27" name="fs-dot"/>
          <p:cNvSpPr/>
          <p:nvPr/>
        </p:nvSpPr>
        <p:spPr>
          <a:xfrm>
            <a:off x="9281160" y="2852928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9555480" y="27614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64 MB RAM disk, wiped after run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6949440" y="33741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main.py, data.csv</a:t>
            </a:r>
            <a:endParaRPr lang="en-US" sz="1400" dirty="0"/>
          </a:p>
        </p:txBody>
      </p:sp>
      <p:sp>
        <p:nvSpPr>
          <p:cNvPr id="30" name="fs-dot"/>
          <p:cNvSpPr/>
          <p:nvPr/>
        </p:nvSpPr>
        <p:spPr>
          <a:xfrm>
            <a:off x="9281160" y="3465576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9555480" y="33741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your code and inputs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949440" y="39867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output/chart.png</a:t>
            </a:r>
            <a:endParaRPr lang="en-US" sz="1400" dirty="0"/>
          </a:p>
        </p:txBody>
      </p:sp>
      <p:sp>
        <p:nvSpPr>
          <p:cNvPr id="33" name="fs-dot"/>
          <p:cNvSpPr/>
          <p:nvPr/>
        </p:nvSpPr>
        <p:spPr>
          <a:xfrm>
            <a:off x="9281160" y="4078224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555480" y="398678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returned as artifacts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6949440" y="4599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/tmp</a:t>
            </a:r>
            <a:endParaRPr lang="en-US" sz="1400" dirty="0"/>
          </a:p>
        </p:txBody>
      </p:sp>
      <p:sp>
        <p:nvSpPr>
          <p:cNvPr id="36" name="fs-dot"/>
          <p:cNvSpPr/>
          <p:nvPr/>
        </p:nvSpPr>
        <p:spPr>
          <a:xfrm>
            <a:off x="9281160" y="4690872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9555480" y="45994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32 MB RAM disk, no programs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694944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/opt/runner</a:t>
            </a:r>
            <a:endParaRPr lang="en-US" sz="1400" dirty="0"/>
          </a:p>
        </p:txBody>
      </p:sp>
      <p:sp>
        <p:nvSpPr>
          <p:cNvPr id="39" name="fs-dot"/>
          <p:cNvSpPr/>
          <p:nvPr/>
        </p:nvSpPr>
        <p:spPr>
          <a:xfrm>
            <a:off x="9281160" y="5303520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9555480" y="5212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read-only runner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host trusts nothing that comes back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AI’s code runs as the same user as the runner, so it could try to fake the result. Every result passes five checks:</a:t>
            </a:r>
            <a:endParaRPr lang="en-US" sz="1800" dirty="0"/>
          </a:p>
        </p:txBody>
      </p:sp>
      <p:sp>
        <p:nvSpPr>
          <p:cNvPr id="4" name="node"/>
          <p:cNvSpPr txBox="1"/>
          <p:nvPr/>
        </p:nvSpPr>
        <p:spPr>
          <a:xfrm>
            <a:off x="548640" y="2377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" name="check-number"/>
          <p:cNvSpPr txBox="1"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at most 20 MB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57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then kill the container</a:t>
            </a:r>
            <a:endParaRPr lang="en-US" sz="1300" dirty="0"/>
          </a:p>
        </p:txBody>
      </p:sp>
      <p:sp>
        <p:nvSpPr>
          <p:cNvPr id="8" name="connector"/>
          <p:cNvSpPr/>
          <p:nvPr/>
        </p:nvSpPr>
        <p:spPr>
          <a:xfrm>
            <a:off x="2487168" y="3246120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node"/>
          <p:cNvSpPr txBox="1"/>
          <p:nvPr/>
        </p:nvSpPr>
        <p:spPr>
          <a:xfrm>
            <a:off x="2834640" y="2377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check-number"/>
          <p:cNvSpPr txBox="1"/>
          <p:nvPr/>
        </p:nvSpPr>
        <p:spPr>
          <a:xfrm>
            <a:off x="2971800" y="2514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Find the secret code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657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random nonce per run</a:t>
            </a:r>
            <a:endParaRPr lang="en-US" sz="1300" dirty="0"/>
          </a:p>
        </p:txBody>
      </p:sp>
      <p:sp>
        <p:nvSpPr>
          <p:cNvPr id="13" name="connector"/>
          <p:cNvSpPr/>
          <p:nvPr/>
        </p:nvSpPr>
        <p:spPr>
          <a:xfrm>
            <a:off x="4773168" y="3246120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node"/>
          <p:cNvSpPr txBox="1"/>
          <p:nvPr/>
        </p:nvSpPr>
        <p:spPr>
          <a:xfrm>
            <a:off x="5120640" y="2377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check-number"/>
          <p:cNvSpPr txBox="1"/>
          <p:nvPr/>
        </p:nvSpPr>
        <p:spPr>
          <a:xfrm>
            <a:off x="5257800" y="2514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Strict format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3657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unknown fields rejected</a:t>
            </a:r>
            <a:endParaRPr lang="en-US" sz="1300" dirty="0"/>
          </a:p>
        </p:txBody>
      </p:sp>
      <p:sp>
        <p:nvSpPr>
          <p:cNvPr id="18" name="connector"/>
          <p:cNvSpPr/>
          <p:nvPr/>
        </p:nvSpPr>
        <p:spPr>
          <a:xfrm>
            <a:off x="7059168" y="3246120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node"/>
          <p:cNvSpPr txBox="1"/>
          <p:nvPr/>
        </p:nvSpPr>
        <p:spPr>
          <a:xfrm>
            <a:off x="7406640" y="2377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0" name="check-number"/>
          <p:cNvSpPr txBox="1"/>
          <p:nvPr/>
        </p:nvSpPr>
        <p:spPr>
          <a:xfrm>
            <a:off x="7543800" y="2514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Re-apply size caps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3657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output, files, counts</a:t>
            </a:r>
            <a:endParaRPr lang="en-US" sz="1300" dirty="0"/>
          </a:p>
        </p:txBody>
      </p:sp>
      <p:sp>
        <p:nvSpPr>
          <p:cNvPr id="23" name="connector"/>
          <p:cNvSpPr/>
          <p:nvPr/>
        </p:nvSpPr>
        <p:spPr>
          <a:xfrm>
            <a:off x="9345168" y="3246120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node"/>
          <p:cNvSpPr txBox="1"/>
          <p:nvPr/>
        </p:nvSpPr>
        <p:spPr>
          <a:xfrm>
            <a:off x="9692640" y="237744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5875">
            <a:solidFill>
              <a:schemeClr val="bg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5" name="check-number"/>
          <p:cNvSpPr txBox="1"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3108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 names and types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3657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safe names, MIME allow-list</a:t>
            </a:r>
            <a:endParaRPr lang="en-US" sz="1300" dirty="0"/>
          </a:p>
        </p:txBody>
      </p:sp>
      <p:sp>
        <p:nvSpPr>
          <p:cNvPr id="28" name="node"/>
          <p:cNvSpPr txBox="1"/>
          <p:nvPr/>
        </p:nvSpPr>
        <p:spPr>
          <a:xfrm>
            <a:off x="548640" y="4663440"/>
            <a:ext cx="539496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Pass: a clean ExecutionResult</a:t>
            </a:r>
            <a:endParaRPr lang="en-US" sz="1600" dirty="0"/>
          </a:p>
        </p:txBody>
      </p:sp>
      <p:sp>
        <p:nvSpPr>
          <p:cNvPr id="29" name="node"/>
          <p:cNvSpPr txBox="1"/>
          <p:nvPr/>
        </p:nvSpPr>
        <p:spPr>
          <a:xfrm>
            <a:off x="6217920" y="4663440"/>
            <a:ext cx="53949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Fail: status sandbox_error, raw output never shown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Proven by a test: fake results written by the code are ignored, and floods are capped.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Safety layers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Many independent walls: if one fails, the others still hold</a:t>
            </a:r>
            <a:endParaRPr lang="en-US" sz="1800" dirty="0"/>
          </a:p>
        </p:txBody>
      </p:sp>
      <p:sp>
        <p:nvSpPr>
          <p:cNvPr id="4" name="icon-circle-FaLock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613002"/>
            <a:ext cx="523037" cy="5230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Defence in depth: walls inside walls</a:t>
            </a:r>
            <a:endParaRPr lang="en-US" sz="3400" dirty="0"/>
          </a:p>
        </p:txBody>
      </p:sp>
      <p:sp>
        <p:nvSpPr>
          <p:cNvPr id="3" name="host-box"/>
          <p:cNvSpPr/>
          <p:nvPr/>
        </p:nvSpPr>
        <p:spPr>
          <a:xfrm>
            <a:off x="548640" y="1371600"/>
            <a:ext cx="6035040" cy="4663440"/>
          </a:xfrm>
          <a:prstGeom prst="roundRect">
            <a:avLst>
              <a:gd name="adj" fmla="val 1569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Your computer</a:t>
            </a:r>
            <a:endParaRPr lang="en-US" sz="1600" dirty="0"/>
          </a:p>
        </p:txBody>
      </p:sp>
      <p:sp>
        <p:nvSpPr>
          <p:cNvPr id="5" name="container-box"/>
          <p:cNvSpPr/>
          <p:nvPr/>
        </p:nvSpPr>
        <p:spPr>
          <a:xfrm>
            <a:off x="1005840" y="2011680"/>
            <a:ext cx="5120640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Throwaway container: no network, read-only, limits</a:t>
            </a:r>
            <a:endParaRPr lang="en-US" sz="1400" dirty="0"/>
          </a:p>
        </p:txBody>
      </p:sp>
      <p:sp>
        <p:nvSpPr>
          <p:cNvPr id="7" name="user-box"/>
          <p:cNvSpPr/>
          <p:nvPr/>
        </p:nvSpPr>
        <p:spPr>
          <a:xfrm>
            <a:off x="1463040" y="2743200"/>
            <a:ext cx="4206240" cy="25603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Normal user 10001, no special powers</a:t>
            </a:r>
            <a:endParaRPr lang="en-US" sz="1400" dirty="0"/>
          </a:p>
        </p:txBody>
      </p:sp>
      <p:sp>
        <p:nvSpPr>
          <p:cNvPr id="9" name="icon-circle-FaBug"/>
          <p:cNvSpPr/>
          <p:nvPr/>
        </p:nvSpPr>
        <p:spPr>
          <a:xfrm>
            <a:off x="3108960" y="35204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0" descr="Bu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8416" y="3739896"/>
            <a:ext cx="475488" cy="4754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65176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AI’s code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7406640" y="146304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icon-circle-FaGlobe"/>
          <p:cNvSpPr/>
          <p:nvPr/>
        </p:nvSpPr>
        <p:spPr>
          <a:xfrm>
            <a:off x="7589520" y="161848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mage 1" descr="Glob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61" y="1763329"/>
            <a:ext cx="313822" cy="31382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366760" y="1719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Internet</a:t>
            </a:r>
            <a:endParaRPr lang="en-US" sz="1600" dirty="0"/>
          </a:p>
        </p:txBody>
      </p:sp>
      <p:sp>
        <p:nvSpPr>
          <p:cNvPr id="16" name="icon-circle-FaBan"/>
          <p:cNvSpPr/>
          <p:nvPr/>
        </p:nvSpPr>
        <p:spPr>
          <a:xfrm>
            <a:off x="10927080" y="1645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Ba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8754" y="1777594"/>
            <a:ext cx="285293" cy="285293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7406640" y="260604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icon-circle-FaFolderOpen"/>
          <p:cNvSpPr/>
          <p:nvPr/>
        </p:nvSpPr>
        <p:spPr>
          <a:xfrm>
            <a:off x="7589520" y="276148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3" descr="FolderOpe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361" y="2906329"/>
            <a:ext cx="313822" cy="31382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66760" y="2862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files</a:t>
            </a:r>
            <a:endParaRPr lang="en-US" sz="1600" dirty="0"/>
          </a:p>
        </p:txBody>
      </p:sp>
      <p:sp>
        <p:nvSpPr>
          <p:cNvPr id="22" name="icon-circle-FaBan"/>
          <p:cNvSpPr/>
          <p:nvPr/>
        </p:nvSpPr>
        <p:spPr>
          <a:xfrm>
            <a:off x="10927080" y="2788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Image 4" descr="Ba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8754" y="2920594"/>
            <a:ext cx="285293" cy="285293"/>
          </a:xfrm>
          <a:prstGeom prst="rect">
            <a:avLst/>
          </a:prstGeom>
        </p:spPr>
      </p:pic>
      <p:sp>
        <p:nvSpPr>
          <p:cNvPr id="24" name="card"/>
          <p:cNvSpPr/>
          <p:nvPr/>
        </p:nvSpPr>
        <p:spPr>
          <a:xfrm>
            <a:off x="7406640" y="374904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icon-circle-FaKey"/>
          <p:cNvSpPr/>
          <p:nvPr/>
        </p:nvSpPr>
        <p:spPr>
          <a:xfrm>
            <a:off x="7589520" y="390448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5" descr="Key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361" y="4049329"/>
            <a:ext cx="313822" cy="31382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366760" y="4005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Your passwords and keys</a:t>
            </a:r>
            <a:endParaRPr lang="en-US" sz="1600" dirty="0"/>
          </a:p>
        </p:txBody>
      </p:sp>
      <p:sp>
        <p:nvSpPr>
          <p:cNvPr id="28" name="icon-circle-FaBan"/>
          <p:cNvSpPr/>
          <p:nvPr/>
        </p:nvSpPr>
        <p:spPr>
          <a:xfrm>
            <a:off x="10927080" y="3931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mage 6" descr="Ba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8754" y="4063594"/>
            <a:ext cx="285293" cy="285293"/>
          </a:xfrm>
          <a:prstGeom prst="rect">
            <a:avLst/>
          </a:prstGeom>
        </p:spPr>
      </p:pic>
      <p:sp>
        <p:nvSpPr>
          <p:cNvPr id="30" name="card"/>
          <p:cNvSpPr/>
          <p:nvPr/>
        </p:nvSpPr>
        <p:spPr>
          <a:xfrm>
            <a:off x="7406640" y="489204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icon-circle-FaUsers"/>
          <p:cNvSpPr/>
          <p:nvPr/>
        </p:nvSpPr>
        <p:spPr>
          <a:xfrm>
            <a:off x="7589520" y="504748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Image 7" descr="User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4361" y="5192329"/>
            <a:ext cx="313822" cy="31382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366760" y="51480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Other users’ runs</a:t>
            </a:r>
            <a:endParaRPr lang="en-US" sz="1600" dirty="0"/>
          </a:p>
        </p:txBody>
      </p:sp>
      <p:sp>
        <p:nvSpPr>
          <p:cNvPr id="34" name="icon-circle-FaBan"/>
          <p:cNvSpPr/>
          <p:nvPr/>
        </p:nvSpPr>
        <p:spPr>
          <a:xfrm>
            <a:off x="10927080" y="50749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8" descr="Ban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58754" y="5206594"/>
            <a:ext cx="285293" cy="285293"/>
          </a:xfrm>
          <a:prstGeom prst="rect">
            <a:avLst/>
          </a:prstGeom>
        </p:spPr>
      </p:pic>
      <p:sp>
        <p:nvSpPr>
          <p:cNvPr id="36" name="connector"/>
          <p:cNvSpPr/>
          <p:nvPr/>
        </p:nvSpPr>
        <p:spPr>
          <a:xfrm>
            <a:off x="6629400" y="3703320"/>
            <a:ext cx="7315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37" name="Text 26"/>
          <p:cNvSpPr txBox="1"/>
          <p:nvPr/>
        </p:nvSpPr>
        <p:spPr>
          <a:xfrm>
            <a:off x="6583680" y="3337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blocked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danger has a specific stopper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icon-circle-FaFolderOpen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FolderOpe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6751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your files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 shared folders; system files read-only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38328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icon-circle-FaKey"/>
          <p:cNvSpPr/>
          <p:nvPr/>
        </p:nvSpPr>
        <p:spPr>
          <a:xfrm>
            <a:off x="3566160" y="1554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Ke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6751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Steal secrets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Only 4 harmless settings passed in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21792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icon-circle-FaGlobe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Glo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6751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0880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the internet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--network none: localhost only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9052560" y="13716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icon-circle-FaHourglassHalf"/>
          <p:cNvSpPr/>
          <p:nvPr/>
        </p:nvSpPr>
        <p:spPr>
          <a:xfrm>
            <a:off x="9235440" y="15544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HourglassHalf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41" y="167518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875520" y="1618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Infinite loop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923544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Inner timer + outer container kill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54864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icon-circle-FaMemory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Memor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327538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218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all memory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512 MB, no swap, big allocations fail fast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338328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icon-circle-FaCodeBranch"/>
          <p:cNvSpPr/>
          <p:nvPr/>
        </p:nvSpPr>
        <p:spPr>
          <a:xfrm>
            <a:off x="3566160" y="3154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mage 5" descr="CodeBranch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861" y="327538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206240" y="3218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Fork bomb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356616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At most 64 processes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621792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4" name="icon-circle-FaHdd"/>
          <p:cNvSpPr/>
          <p:nvPr/>
        </p:nvSpPr>
        <p:spPr>
          <a:xfrm>
            <a:off x="6400800" y="3154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6" descr="Hd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501" y="3275381"/>
            <a:ext cx="261518" cy="26151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040880" y="3218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Fill the disk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Tiny RAM disks: 64 MB and 32 MB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9052560" y="29718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9" name="icon-circle-FaTerminal"/>
          <p:cNvSpPr/>
          <p:nvPr/>
        </p:nvSpPr>
        <p:spPr>
          <a:xfrm>
            <a:off x="9235440" y="31546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0" name="Image 7" descr="Terminal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6141" y="3275381"/>
            <a:ext cx="261518" cy="26151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875520" y="32186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Print gigabytes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9235440" y="3749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Keeps only first + last 32 KB</a:t>
            </a:r>
            <a:endParaRPr lang="en-US" sz="1200" dirty="0"/>
          </a:p>
        </p:txBody>
      </p:sp>
      <p:sp>
        <p:nvSpPr>
          <p:cNvPr id="43" name="card"/>
          <p:cNvSpPr/>
          <p:nvPr/>
        </p:nvSpPr>
        <p:spPr>
          <a:xfrm>
            <a:off x="548640" y="45720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icon-circle-FaUserShield"/>
          <p:cNvSpPr/>
          <p:nvPr/>
        </p:nvSpPr>
        <p:spPr>
          <a:xfrm>
            <a:off x="731520" y="4754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5" name="Image 8" descr="UserShield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221" y="4875581"/>
            <a:ext cx="261518" cy="261518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371600" y="4818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Become root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731520" y="5349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Normal user, all powers dropped</a:t>
            </a:r>
            <a:endParaRPr lang="en-US" sz="1200" dirty="0"/>
          </a:p>
        </p:txBody>
      </p:sp>
      <p:sp>
        <p:nvSpPr>
          <p:cNvPr id="48" name="card"/>
          <p:cNvSpPr/>
          <p:nvPr/>
        </p:nvSpPr>
        <p:spPr>
          <a:xfrm>
            <a:off x="3383280" y="45720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icon-circle-FaRecycle"/>
          <p:cNvSpPr/>
          <p:nvPr/>
        </p:nvSpPr>
        <p:spPr>
          <a:xfrm>
            <a:off x="3566160" y="4754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0" name="Image 9" descr="Recycl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6861" y="4875581"/>
            <a:ext cx="261518" cy="261518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4206240" y="4818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Leave a process</a:t>
            </a:r>
            <a:endParaRPr lang="en-US" sz="1500" dirty="0"/>
          </a:p>
        </p:txBody>
      </p:sp>
      <p:sp>
        <p:nvSpPr>
          <p:cNvPr id="52" name="Text 40"/>
          <p:cNvSpPr txBox="1"/>
          <p:nvPr/>
        </p:nvSpPr>
        <p:spPr>
          <a:xfrm>
            <a:off x="3566160" y="5349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Leftovers killed, container deleted</a:t>
            </a:r>
            <a:endParaRPr lang="en-US" sz="1200" dirty="0"/>
          </a:p>
        </p:txBody>
      </p:sp>
      <p:sp>
        <p:nvSpPr>
          <p:cNvPr id="53" name="card"/>
          <p:cNvSpPr/>
          <p:nvPr/>
        </p:nvSpPr>
        <p:spPr>
          <a:xfrm>
            <a:off x="6217920" y="45720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icon-circle-FaLink"/>
          <p:cNvSpPr/>
          <p:nvPr/>
        </p:nvSpPr>
        <p:spPr>
          <a:xfrm>
            <a:off x="6400800" y="4754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5" name="Image 10" descr="Link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1501" y="4875581"/>
            <a:ext cx="261518" cy="261518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7040880" y="4818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Sneak files via shortcuts</a:t>
            </a:r>
            <a:endParaRPr lang="en-US" sz="1500" dirty="0"/>
          </a:p>
        </p:txBody>
      </p:sp>
      <p:sp>
        <p:nvSpPr>
          <p:cNvPr id="57" name="Text 44"/>
          <p:cNvSpPr txBox="1"/>
          <p:nvPr/>
        </p:nvSpPr>
        <p:spPr>
          <a:xfrm>
            <a:off x="6400800" y="5349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Only real, ordinary files returned</a:t>
            </a:r>
            <a:endParaRPr lang="en-US" sz="1200" dirty="0"/>
          </a:p>
        </p:txBody>
      </p:sp>
      <p:sp>
        <p:nvSpPr>
          <p:cNvPr id="58" name="card"/>
          <p:cNvSpPr/>
          <p:nvPr/>
        </p:nvSpPr>
        <p:spPr>
          <a:xfrm>
            <a:off x="9052560" y="457200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9" name="icon-circle-FaRedo"/>
          <p:cNvSpPr/>
          <p:nvPr/>
        </p:nvSpPr>
        <p:spPr>
          <a:xfrm>
            <a:off x="9235440" y="4754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0" name="Image 11" descr="Redo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6141" y="4875581"/>
            <a:ext cx="261518" cy="261518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9875520" y="4818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Come back next run</a:t>
            </a:r>
            <a:endParaRPr lang="en-US" sz="1500" dirty="0"/>
          </a:p>
        </p:txBody>
      </p:sp>
      <p:sp>
        <p:nvSpPr>
          <p:cNvPr id="62" name="Text 48"/>
          <p:cNvSpPr txBox="1"/>
          <p:nvPr/>
        </p:nvSpPr>
        <p:spPr>
          <a:xfrm>
            <a:off x="9235440" y="5349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Brand-new container every time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Fail closed: if anything is missing, refuse</a:t>
            </a:r>
            <a:endParaRPr lang="en-US" sz="3400" dirty="0"/>
          </a:p>
        </p:txBody>
      </p:sp>
      <p:sp>
        <p:nvSpPr>
          <p:cNvPr id="3" name="node"/>
          <p:cNvSpPr txBox="1"/>
          <p:nvPr/>
        </p:nvSpPr>
        <p:spPr>
          <a:xfrm>
            <a:off x="548640" y="1737360"/>
            <a:ext cx="2011680" cy="128016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Docker running?</a:t>
            </a:r>
            <a:endParaRPr lang="en-US" sz="1300" dirty="0"/>
          </a:p>
        </p:txBody>
      </p:sp>
      <p:sp>
        <p:nvSpPr>
          <p:cNvPr id="4" name="connector"/>
          <p:cNvSpPr/>
          <p:nvPr/>
        </p:nvSpPr>
        <p:spPr>
          <a:xfrm>
            <a:off x="2560320" y="237744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2487168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yes</a:t>
            </a:r>
            <a:endParaRPr lang="en-US" sz="1200" dirty="0"/>
          </a:p>
        </p:txBody>
      </p:sp>
      <p:sp>
        <p:nvSpPr>
          <p:cNvPr id="6" name="connector"/>
          <p:cNvSpPr/>
          <p:nvPr/>
        </p:nvSpPr>
        <p:spPr>
          <a:xfrm>
            <a:off x="1554480" y="3017520"/>
            <a:ext cx="0" cy="10058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160020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8" name="node"/>
          <p:cNvSpPr txBox="1"/>
          <p:nvPr/>
        </p:nvSpPr>
        <p:spPr>
          <a:xfrm>
            <a:off x="2926080" y="1737360"/>
            <a:ext cx="2011680" cy="128016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Image present?</a:t>
            </a:r>
            <a:endParaRPr lang="en-US" sz="1300" dirty="0"/>
          </a:p>
        </p:txBody>
      </p:sp>
      <p:sp>
        <p:nvSpPr>
          <p:cNvPr id="9" name="connector"/>
          <p:cNvSpPr/>
          <p:nvPr/>
        </p:nvSpPr>
        <p:spPr>
          <a:xfrm>
            <a:off x="4937760" y="237744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864608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yes</a:t>
            </a:r>
            <a:endParaRPr lang="en-US" sz="1200" dirty="0"/>
          </a:p>
        </p:txBody>
      </p:sp>
      <p:sp>
        <p:nvSpPr>
          <p:cNvPr id="11" name="connector"/>
          <p:cNvSpPr/>
          <p:nvPr/>
        </p:nvSpPr>
        <p:spPr>
          <a:xfrm>
            <a:off x="3931920" y="3017520"/>
            <a:ext cx="0" cy="10058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97764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13" name="node"/>
          <p:cNvSpPr txBox="1"/>
          <p:nvPr/>
        </p:nvSpPr>
        <p:spPr>
          <a:xfrm>
            <a:off x="5303520" y="1737360"/>
            <a:ext cx="2011680" cy="128016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Limits enforceable?</a:t>
            </a:r>
            <a:endParaRPr lang="en-US" sz="1300" dirty="0"/>
          </a:p>
        </p:txBody>
      </p:sp>
      <p:sp>
        <p:nvSpPr>
          <p:cNvPr id="14" name="connector"/>
          <p:cNvSpPr/>
          <p:nvPr/>
        </p:nvSpPr>
        <p:spPr>
          <a:xfrm>
            <a:off x="7315200" y="237744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242048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yes</a:t>
            </a:r>
            <a:endParaRPr lang="en-US" sz="1200" dirty="0"/>
          </a:p>
        </p:txBody>
      </p:sp>
      <p:sp>
        <p:nvSpPr>
          <p:cNvPr id="16" name="connector"/>
          <p:cNvSpPr/>
          <p:nvPr/>
        </p:nvSpPr>
        <p:spPr>
          <a:xfrm>
            <a:off x="6309360" y="3017520"/>
            <a:ext cx="0" cy="10058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35508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18" name="node"/>
          <p:cNvSpPr txBox="1"/>
          <p:nvPr/>
        </p:nvSpPr>
        <p:spPr>
          <a:xfrm>
            <a:off x="7680960" y="1737360"/>
            <a:ext cx="2011680" cy="128016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Runtime installed?</a:t>
            </a:r>
            <a:endParaRPr lang="en-US" sz="1300" dirty="0"/>
          </a:p>
        </p:txBody>
      </p:sp>
      <p:sp>
        <p:nvSpPr>
          <p:cNvPr id="19" name="connector"/>
          <p:cNvSpPr/>
          <p:nvPr/>
        </p:nvSpPr>
        <p:spPr>
          <a:xfrm>
            <a:off x="9692640" y="237744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619488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yes</a:t>
            </a:r>
            <a:endParaRPr lang="en-US" sz="1200" dirty="0"/>
          </a:p>
        </p:txBody>
      </p:sp>
      <p:sp>
        <p:nvSpPr>
          <p:cNvPr id="21" name="connector"/>
          <p:cNvSpPr/>
          <p:nvPr/>
        </p:nvSpPr>
        <p:spPr>
          <a:xfrm>
            <a:off x="8686800" y="3017520"/>
            <a:ext cx="0" cy="100584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73252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23" name="node"/>
          <p:cNvSpPr txBox="1"/>
          <p:nvPr/>
        </p:nvSpPr>
        <p:spPr>
          <a:xfrm>
            <a:off x="10058400" y="192024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Run the code</a:t>
            </a:r>
            <a:endParaRPr lang="en-US" sz="1600" dirty="0"/>
          </a:p>
        </p:txBody>
      </p:sp>
      <p:sp>
        <p:nvSpPr>
          <p:cNvPr id="24" name="node"/>
          <p:cNvSpPr txBox="1"/>
          <p:nvPr/>
        </p:nvSpPr>
        <p:spPr>
          <a:xfrm>
            <a:off x="548640" y="4023360"/>
            <a:ext cx="914400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Refuse to run: SandboxUnavailableError, with a fix-it message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Never falls back silently to the unsafe local mode. The local backend will not even start without allow_unsafe=True.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agent and production setup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How the AI loop works, and why Docker lives on its own machine</a:t>
            </a:r>
            <a:endParaRPr lang="en-US" sz="1800" dirty="0"/>
          </a:p>
        </p:txBody>
      </p:sp>
      <p:sp>
        <p:nvSpPr>
          <p:cNvPr id="4" name="icon-circle-FaRobot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Robo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613002"/>
            <a:ext cx="523037" cy="5230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agent thinks: a bounded loop</a:t>
            </a:r>
            <a:endParaRPr lang="en-US" sz="3400" dirty="0"/>
          </a:p>
        </p:txBody>
      </p:sp>
      <p:sp>
        <p:nvSpPr>
          <p:cNvPr id="3" name="node"/>
          <p:cNvSpPr txBox="1"/>
          <p:nvPr/>
        </p:nvSpPr>
        <p:spPr>
          <a:xfrm>
            <a:off x="548640" y="182880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Task + files</a:t>
            </a:r>
            <a:endParaRPr lang="en-US" sz="1400" dirty="0"/>
          </a:p>
        </p:txBody>
      </p:sp>
      <p:sp>
        <p:nvSpPr>
          <p:cNvPr id="4" name="node"/>
          <p:cNvSpPr txBox="1"/>
          <p:nvPr/>
        </p:nvSpPr>
        <p:spPr>
          <a:xfrm>
            <a:off x="2697480" y="1828800"/>
            <a:ext cx="192024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the AI for the next step</a:t>
            </a:r>
            <a:endParaRPr lang="en-US" sz="1400" dirty="0"/>
          </a:p>
        </p:txBody>
      </p:sp>
      <p:sp>
        <p:nvSpPr>
          <p:cNvPr id="5" name="node"/>
          <p:cNvSpPr txBox="1"/>
          <p:nvPr/>
        </p:nvSpPr>
        <p:spPr>
          <a:xfrm>
            <a:off x="5029200" y="1645920"/>
            <a:ext cx="1828800" cy="11887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 tool call?</a:t>
            </a:r>
            <a:endParaRPr lang="en-US" sz="1300" dirty="0"/>
          </a:p>
        </p:txBody>
      </p:sp>
      <p:sp>
        <p:nvSpPr>
          <p:cNvPr id="6" name="node"/>
          <p:cNvSpPr txBox="1"/>
          <p:nvPr/>
        </p:nvSpPr>
        <p:spPr>
          <a:xfrm>
            <a:off x="7680960" y="182880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code in the sandbox</a:t>
            </a:r>
            <a:endParaRPr lang="en-US" sz="1400" dirty="0"/>
          </a:p>
        </p:txBody>
      </p:sp>
      <p:sp>
        <p:nvSpPr>
          <p:cNvPr id="7" name="node"/>
          <p:cNvSpPr txBox="1"/>
          <p:nvPr/>
        </p:nvSpPr>
        <p:spPr>
          <a:xfrm>
            <a:off x="9875520" y="182880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Give the AI a short summary</a:t>
            </a:r>
            <a:endParaRPr lang="en-US" sz="1400" dirty="0"/>
          </a:p>
        </p:txBody>
      </p:sp>
      <p:sp>
        <p:nvSpPr>
          <p:cNvPr id="8" name="node"/>
          <p:cNvSpPr txBox="1"/>
          <p:nvPr/>
        </p:nvSpPr>
        <p:spPr>
          <a:xfrm>
            <a:off x="4937760" y="342900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Return answer, charts, transcript</a:t>
            </a:r>
            <a:endParaRPr lang="en-US" sz="1300" dirty="0"/>
          </a:p>
        </p:txBody>
      </p:sp>
      <p:sp>
        <p:nvSpPr>
          <p:cNvPr id="9" name="node"/>
          <p:cNvSpPr txBox="1"/>
          <p:nvPr/>
        </p:nvSpPr>
        <p:spPr>
          <a:xfrm>
            <a:off x="7680960" y="3429000"/>
            <a:ext cx="173736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Tell the AI what was wrong</a:t>
            </a:r>
            <a:endParaRPr lang="en-US" sz="1300" dirty="0"/>
          </a:p>
        </p:txBody>
      </p:sp>
      <p:sp>
        <p:nvSpPr>
          <p:cNvPr id="10" name="node"/>
          <p:cNvSpPr txBox="1"/>
          <p:nvPr/>
        </p:nvSpPr>
        <p:spPr>
          <a:xfrm>
            <a:off x="2651760" y="4206240"/>
            <a:ext cx="2011680" cy="11887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Step limit reached? (6)</a:t>
            </a:r>
            <a:endParaRPr lang="en-US" sz="1300" dirty="0"/>
          </a:p>
        </p:txBody>
      </p:sp>
      <p:sp>
        <p:nvSpPr>
          <p:cNvPr id="11" name="node"/>
          <p:cNvSpPr txBox="1"/>
          <p:nvPr/>
        </p:nvSpPr>
        <p:spPr>
          <a:xfrm>
            <a:off x="548640" y="44348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Stop: step limit reached</a:t>
            </a:r>
            <a:endParaRPr lang="en-US" sz="1300" dirty="0"/>
          </a:p>
        </p:txBody>
      </p:sp>
      <p:sp>
        <p:nvSpPr>
          <p:cNvPr id="12" name="connector"/>
          <p:cNvSpPr/>
          <p:nvPr/>
        </p:nvSpPr>
        <p:spPr>
          <a:xfrm>
            <a:off x="2286000" y="2240280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connector"/>
          <p:cNvSpPr/>
          <p:nvPr/>
        </p:nvSpPr>
        <p:spPr>
          <a:xfrm>
            <a:off x="4617720" y="2240280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connector"/>
          <p:cNvSpPr/>
          <p:nvPr/>
        </p:nvSpPr>
        <p:spPr>
          <a:xfrm>
            <a:off x="6858000" y="2240280"/>
            <a:ext cx="8229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76656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run_python</a:t>
            </a:r>
            <a:endParaRPr lang="en-US" sz="1200" dirty="0"/>
          </a:p>
        </p:txBody>
      </p:sp>
      <p:sp>
        <p:nvSpPr>
          <p:cNvPr id="16" name="connector"/>
          <p:cNvSpPr/>
          <p:nvPr/>
        </p:nvSpPr>
        <p:spPr>
          <a:xfrm>
            <a:off x="9418320" y="2240280"/>
            <a:ext cx="4572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connector"/>
          <p:cNvSpPr/>
          <p:nvPr/>
        </p:nvSpPr>
        <p:spPr>
          <a:xfrm>
            <a:off x="5943600" y="2834640"/>
            <a:ext cx="0" cy="5943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989320" y="2926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final_answer</a:t>
            </a:r>
            <a:endParaRPr lang="en-US" sz="1200" dirty="0"/>
          </a:p>
        </p:txBody>
      </p:sp>
      <p:sp>
        <p:nvSpPr>
          <p:cNvPr id="19" name="connector"/>
          <p:cNvSpPr/>
          <p:nvPr/>
        </p:nvSpPr>
        <p:spPr>
          <a:xfrm>
            <a:off x="6675120" y="2468880"/>
            <a:ext cx="1005840" cy="11887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26948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invalid</a:t>
            </a:r>
            <a:endParaRPr lang="en-US" sz="1200" dirty="0"/>
          </a:p>
        </p:txBody>
      </p:sp>
      <p:sp>
        <p:nvSpPr>
          <p:cNvPr id="21" name="connector"/>
          <p:cNvSpPr/>
          <p:nvPr/>
        </p:nvSpPr>
        <p:spPr>
          <a:xfrm>
            <a:off x="9418320" y="3813048"/>
            <a:ext cx="13258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2" name="connector"/>
          <p:cNvSpPr/>
          <p:nvPr/>
        </p:nvSpPr>
        <p:spPr>
          <a:xfrm>
            <a:off x="10744200" y="2651760"/>
            <a:ext cx="0" cy="21488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3" name="connector"/>
          <p:cNvSpPr/>
          <p:nvPr/>
        </p:nvSpPr>
        <p:spPr>
          <a:xfrm flipH="1">
            <a:off x="4663440" y="4800600"/>
            <a:ext cx="6080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connector"/>
          <p:cNvSpPr/>
          <p:nvPr/>
        </p:nvSpPr>
        <p:spPr>
          <a:xfrm flipV="1">
            <a:off x="3657600" y="2651760"/>
            <a:ext cx="0" cy="15544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70332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no: next step</a:t>
            </a:r>
            <a:endParaRPr lang="en-US" sz="1200" dirty="0"/>
          </a:p>
        </p:txBody>
      </p:sp>
      <p:sp>
        <p:nvSpPr>
          <p:cNvPr id="26" name="connector"/>
          <p:cNvSpPr/>
          <p:nvPr/>
        </p:nvSpPr>
        <p:spPr>
          <a:xfrm flipH="1">
            <a:off x="2286000" y="480060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Only two tools are allowed: run_python and final_answer. Errors show the AI the last lines of the traceback, the most useful part.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Production: Docker lives on its own machine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651760" cy="36576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Agent machine</a:t>
            </a:r>
            <a:endParaRPr lang="en-US" sz="1600" dirty="0"/>
          </a:p>
        </p:txBody>
      </p:sp>
      <p:sp>
        <p:nvSpPr>
          <p:cNvPr id="5" name="node"/>
          <p:cNvSpPr txBox="1"/>
          <p:nvPr/>
        </p:nvSpPr>
        <p:spPr>
          <a:xfrm>
            <a:off x="822960" y="219456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agent</a:t>
            </a:r>
            <a:endParaRPr lang="en-US" sz="1400" dirty="0"/>
          </a:p>
        </p:txBody>
      </p:sp>
      <p:sp>
        <p:nvSpPr>
          <p:cNvPr id="6" name="node"/>
          <p:cNvSpPr txBox="1"/>
          <p:nvPr/>
        </p:nvSpPr>
        <p:spPr>
          <a:xfrm>
            <a:off x="822960" y="3566160"/>
            <a:ext cx="21031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RemoteSandbox</a:t>
            </a:r>
            <a:endParaRPr lang="en-US" sz="1400" dirty="0"/>
          </a:p>
        </p:txBody>
      </p:sp>
      <p:sp>
        <p:nvSpPr>
          <p:cNvPr id="7" name="connector"/>
          <p:cNvSpPr/>
          <p:nvPr/>
        </p:nvSpPr>
        <p:spPr>
          <a:xfrm>
            <a:off x="1874520" y="2926080"/>
            <a:ext cx="0" cy="6400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card"/>
          <p:cNvSpPr/>
          <p:nvPr/>
        </p:nvSpPr>
        <p:spPr>
          <a:xfrm>
            <a:off x="4023360" y="1371600"/>
            <a:ext cx="3108960" cy="3657600"/>
          </a:xfrm>
          <a:prstGeom prst="roundRect">
            <a:avLst>
              <a:gd name="adj" fmla="val 23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Dedicated executor machine</a:t>
            </a:r>
            <a:endParaRPr lang="en-US" sz="1600" dirty="0"/>
          </a:p>
        </p:txBody>
      </p:sp>
      <p:sp>
        <p:nvSpPr>
          <p:cNvPr id="10" name="node"/>
          <p:cNvSpPr txBox="1"/>
          <p:nvPr/>
        </p:nvSpPr>
        <p:spPr>
          <a:xfrm>
            <a:off x="4297680" y="2103120"/>
            <a:ext cx="256032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Executor service (FastAPI)</a:t>
            </a:r>
            <a:endParaRPr lang="en-US" sz="1300" dirty="0"/>
          </a:p>
        </p:txBody>
      </p:sp>
      <p:sp>
        <p:nvSpPr>
          <p:cNvPr id="11" name="node"/>
          <p:cNvSpPr txBox="1"/>
          <p:nvPr/>
        </p:nvSpPr>
        <p:spPr>
          <a:xfrm>
            <a:off x="4297680" y="3108960"/>
            <a:ext cx="25603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DockerSandbox</a:t>
            </a:r>
            <a:endParaRPr lang="en-US" sz="1400" dirty="0"/>
          </a:p>
        </p:txBody>
      </p:sp>
      <p:sp>
        <p:nvSpPr>
          <p:cNvPr id="12" name="node"/>
          <p:cNvSpPr txBox="1"/>
          <p:nvPr/>
        </p:nvSpPr>
        <p:spPr>
          <a:xfrm>
            <a:off x="4297680" y="4023360"/>
            <a:ext cx="256032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 + janitor</a:t>
            </a:r>
            <a:endParaRPr lang="en-US" sz="1400" dirty="0"/>
          </a:p>
        </p:txBody>
      </p:sp>
      <p:sp>
        <p:nvSpPr>
          <p:cNvPr id="13" name="connector"/>
          <p:cNvSpPr/>
          <p:nvPr/>
        </p:nvSpPr>
        <p:spPr>
          <a:xfrm>
            <a:off x="5577840" y="283464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connector"/>
          <p:cNvSpPr/>
          <p:nvPr/>
        </p:nvSpPr>
        <p:spPr>
          <a:xfrm>
            <a:off x="5577840" y="374904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connector"/>
          <p:cNvSpPr/>
          <p:nvPr/>
        </p:nvSpPr>
        <p:spPr>
          <a:xfrm flipV="1">
            <a:off x="2926080" y="2468880"/>
            <a:ext cx="1371600" cy="1463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3383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HTTPS +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token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Whoever controls Docker controls the whole machine, so the agent never touches it.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the service answers</a:t>
            </a:r>
            <a:endParaRPr lang="en-US" sz="1600" dirty="0"/>
          </a:p>
        </p:txBody>
      </p:sp>
      <p:sp>
        <p:nvSpPr>
          <p:cNvPr id="19" name="node"/>
          <p:cNvSpPr txBox="1"/>
          <p:nvPr/>
        </p:nvSpPr>
        <p:spPr>
          <a:xfrm>
            <a:off x="7589520" y="1874520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200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result returned</a:t>
            </a:r>
            <a:endParaRPr lang="en-US" sz="1500" dirty="0"/>
          </a:p>
        </p:txBody>
      </p:sp>
      <p:sp>
        <p:nvSpPr>
          <p:cNvPr id="21" name="node"/>
          <p:cNvSpPr txBox="1"/>
          <p:nvPr/>
        </p:nvSpPr>
        <p:spPr>
          <a:xfrm>
            <a:off x="7589520" y="2532888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401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2624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missing or wrong token</a:t>
            </a:r>
            <a:endParaRPr lang="en-US" sz="1500" dirty="0"/>
          </a:p>
        </p:txBody>
      </p:sp>
      <p:sp>
        <p:nvSpPr>
          <p:cNvPr id="23" name="node"/>
          <p:cNvSpPr txBox="1"/>
          <p:nvPr/>
        </p:nvSpPr>
        <p:spPr>
          <a:xfrm>
            <a:off x="7589520" y="3191256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413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32826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body too large</a:t>
            </a:r>
            <a:endParaRPr lang="en-US" sz="1500" dirty="0"/>
          </a:p>
        </p:txBody>
      </p:sp>
      <p:sp>
        <p:nvSpPr>
          <p:cNvPr id="25" name="node"/>
          <p:cNvSpPr txBox="1"/>
          <p:nvPr/>
        </p:nvSpPr>
        <p:spPr>
          <a:xfrm>
            <a:off x="7589520" y="3849624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422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39410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badly formed request</a:t>
            </a:r>
            <a:endParaRPr lang="en-US" sz="1500" dirty="0"/>
          </a:p>
        </p:txBody>
      </p:sp>
      <p:sp>
        <p:nvSpPr>
          <p:cNvPr id="27" name="node"/>
          <p:cNvSpPr txBox="1"/>
          <p:nvPr/>
        </p:nvSpPr>
        <p:spPr>
          <a:xfrm>
            <a:off x="7589520" y="4507992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429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0" y="4599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busy, retry later</a:t>
            </a:r>
            <a:endParaRPr lang="en-US" sz="1500" dirty="0"/>
          </a:p>
        </p:txBody>
      </p:sp>
      <p:sp>
        <p:nvSpPr>
          <p:cNvPr id="29" name="node"/>
          <p:cNvSpPr txBox="1"/>
          <p:nvPr/>
        </p:nvSpPr>
        <p:spPr>
          <a:xfrm>
            <a:off x="7589520" y="5166360"/>
            <a:ext cx="82296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503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Docker not ready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Every result has one of seven statuses</a:t>
            </a:r>
            <a:endParaRPr lang="en-US" sz="3400" dirty="0"/>
          </a:p>
        </p:txBody>
      </p:sp>
      <p:sp>
        <p:nvSpPr>
          <p:cNvPr id="3" name="node"/>
          <p:cNvSpPr txBox="1"/>
          <p:nvPr/>
        </p:nvSpPr>
        <p:spPr>
          <a:xfrm>
            <a:off x="548640" y="1371600"/>
            <a:ext cx="2103120" cy="530352"/>
          </a:xfrm>
          <a:prstGeom prst="roundRect">
            <a:avLst>
              <a:gd name="adj" fmla="val 13793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472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Code finished normally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490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print(1+1)</a:t>
            </a:r>
            <a:endParaRPr lang="en-US" sz="1400" dirty="0"/>
          </a:p>
        </p:txBody>
      </p:sp>
      <p:sp>
        <p:nvSpPr>
          <p:cNvPr id="6" name="node"/>
          <p:cNvSpPr txBox="1"/>
          <p:nvPr/>
        </p:nvSpPr>
        <p:spPr>
          <a:xfrm>
            <a:off x="548640" y="2057400"/>
            <a:ext cx="2103120" cy="530352"/>
          </a:xfrm>
          <a:prstGeom prst="roundRect">
            <a:avLst>
              <a:gd name="adj" fmla="val 13793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error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157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Code crashed or exited with an error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176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1/0</a:t>
            </a:r>
            <a:endParaRPr lang="en-US" sz="1400" dirty="0"/>
          </a:p>
        </p:txBody>
      </p:sp>
      <p:sp>
        <p:nvSpPr>
          <p:cNvPr id="9" name="node"/>
          <p:cNvSpPr txBox="1"/>
          <p:nvPr/>
        </p:nvSpPr>
        <p:spPr>
          <a:xfrm>
            <a:off x="548640" y="2743200"/>
            <a:ext cx="210312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timeout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843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too long and was killed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862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 pass</a:t>
            </a:r>
            <a:endParaRPr lang="en-US" sz="1400" dirty="0"/>
          </a:p>
        </p:txBody>
      </p:sp>
      <p:sp>
        <p:nvSpPr>
          <p:cNvPr id="12" name="node"/>
          <p:cNvSpPr txBox="1"/>
          <p:nvPr/>
        </p:nvSpPr>
        <p:spPr>
          <a:xfrm>
            <a:off x="548640" y="3429000"/>
            <a:ext cx="210312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oom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529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Used too much memory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547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b'a' * 2_000_000_000</a:t>
            </a:r>
            <a:endParaRPr lang="en-US" sz="1400" dirty="0"/>
          </a:p>
        </p:txBody>
      </p:sp>
      <p:sp>
        <p:nvSpPr>
          <p:cNvPr id="15" name="node"/>
          <p:cNvSpPr txBox="1"/>
          <p:nvPr/>
        </p:nvSpPr>
        <p:spPr>
          <a:xfrm>
            <a:off x="548640" y="4114800"/>
            <a:ext cx="210312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output_limit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42153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Sent back far too much data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flooding the output</a:t>
            </a:r>
            <a:endParaRPr lang="en-US" sz="1400" dirty="0"/>
          </a:p>
        </p:txBody>
      </p:sp>
      <p:sp>
        <p:nvSpPr>
          <p:cNvPr id="18" name="node"/>
          <p:cNvSpPr txBox="1"/>
          <p:nvPr/>
        </p:nvSpPr>
        <p:spPr>
          <a:xfrm>
            <a:off x="548640" y="4800600"/>
            <a:ext cx="210312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5875">
            <a:solidFill>
              <a:schemeClr val="accent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rejected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4901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Broke a limit before running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919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input files</a:t>
            </a:r>
            <a:endParaRPr lang="en-US" sz="1400" dirty="0"/>
          </a:p>
        </p:txBody>
      </p:sp>
      <p:sp>
        <p:nvSpPr>
          <p:cNvPr id="21" name="node"/>
          <p:cNvSpPr txBox="1"/>
          <p:nvPr/>
        </p:nvSpPr>
        <p:spPr>
          <a:xfrm>
            <a:off x="548640" y="5486400"/>
            <a:ext cx="210312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5875">
            <a:solidFill>
              <a:schemeClr val="accent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sandbox_error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55869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machinery itself failed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56052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garbage result 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Tested against real attacks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15/15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attacks blocked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343400" y="132588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137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tests passed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8138160" y="1325880"/>
            <a:ext cx="3474720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1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fresh container per run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548640" y="32918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icon-circle-FaCheckCircle"/>
          <p:cNvSpPr/>
          <p:nvPr/>
        </p:nvSpPr>
        <p:spPr>
          <a:xfrm>
            <a:off x="685800" y="345643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4" name="Image 0" descr="Check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582" y="3544214"/>
            <a:ext cx="190195" cy="1901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4300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 host files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2834640" y="32918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icon-circle-FaCheckCircle"/>
          <p:cNvSpPr/>
          <p:nvPr/>
        </p:nvSpPr>
        <p:spPr>
          <a:xfrm>
            <a:off x="2971800" y="345643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Image 1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582" y="3544214"/>
            <a:ext cx="190195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42900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 env vars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120640" y="32918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icon-circle-FaCheckCircle"/>
          <p:cNvSpPr/>
          <p:nvPr/>
        </p:nvSpPr>
        <p:spPr>
          <a:xfrm>
            <a:off x="5257800" y="345643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2" name="Image 2" descr="Check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582" y="3544214"/>
            <a:ext cx="190195" cy="19019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71500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Network access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7406640" y="32918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icon-circle-FaCheckCircle"/>
          <p:cNvSpPr/>
          <p:nvPr/>
        </p:nvSpPr>
        <p:spPr>
          <a:xfrm>
            <a:off x="7543800" y="345643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6" name="Image 3" descr="CheckCirc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582" y="3544214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00100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Infinite loop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9692640" y="32918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icon-circle-FaCheckCircle"/>
          <p:cNvSpPr/>
          <p:nvPr/>
        </p:nvSpPr>
        <p:spPr>
          <a:xfrm>
            <a:off x="9829800" y="345643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0" name="Image 4" descr="CheckCirc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582" y="3544214"/>
            <a:ext cx="190195" cy="19019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28700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Allocate 2 GB</a:t>
            </a:r>
            <a:endParaRPr lang="en-US" sz="1300" dirty="0"/>
          </a:p>
        </p:txBody>
      </p:sp>
      <p:sp>
        <p:nvSpPr>
          <p:cNvPr id="32" name="card"/>
          <p:cNvSpPr/>
          <p:nvPr/>
        </p:nvSpPr>
        <p:spPr>
          <a:xfrm>
            <a:off x="548640" y="416052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icon-circle-FaCheckCircle"/>
          <p:cNvSpPr/>
          <p:nvPr/>
        </p:nvSpPr>
        <p:spPr>
          <a:xfrm>
            <a:off x="685800" y="432511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4" name="Image 5" descr="CheckCirc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" y="4412894"/>
            <a:ext cx="190195" cy="19019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14300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Fork bomb</a:t>
            </a:r>
            <a:endParaRPr lang="en-US" sz="1300" dirty="0"/>
          </a:p>
        </p:txBody>
      </p:sp>
      <p:sp>
        <p:nvSpPr>
          <p:cNvPr id="36" name="card"/>
          <p:cNvSpPr/>
          <p:nvPr/>
        </p:nvSpPr>
        <p:spPr>
          <a:xfrm>
            <a:off x="2834640" y="416052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7" name="icon-circle-FaCheckCircle"/>
          <p:cNvSpPr/>
          <p:nvPr/>
        </p:nvSpPr>
        <p:spPr>
          <a:xfrm>
            <a:off x="2971800" y="432511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8" name="Image 6" descr="CheckCircl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582" y="4412894"/>
            <a:ext cx="190195" cy="19019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42900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Fill disk</a:t>
            </a:r>
            <a:endParaRPr lang="en-US" sz="1300" dirty="0"/>
          </a:p>
        </p:txBody>
      </p:sp>
      <p:sp>
        <p:nvSpPr>
          <p:cNvPr id="40" name="card"/>
          <p:cNvSpPr/>
          <p:nvPr/>
        </p:nvSpPr>
        <p:spPr>
          <a:xfrm>
            <a:off x="5120640" y="416052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icon-circle-FaCheckCircle"/>
          <p:cNvSpPr/>
          <p:nvPr/>
        </p:nvSpPr>
        <p:spPr>
          <a:xfrm>
            <a:off x="5257800" y="432511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2" name="Image 7" descr="CheckCircl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5582" y="4412894"/>
            <a:ext cx="190195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71500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Print 100 MB</a:t>
            </a:r>
            <a:endParaRPr lang="en-US" sz="1300" dirty="0"/>
          </a:p>
        </p:txBody>
      </p:sp>
      <p:sp>
        <p:nvSpPr>
          <p:cNvPr id="44" name="card"/>
          <p:cNvSpPr/>
          <p:nvPr/>
        </p:nvSpPr>
        <p:spPr>
          <a:xfrm>
            <a:off x="7406640" y="416052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5" name="icon-circle-FaCheckCircle"/>
          <p:cNvSpPr/>
          <p:nvPr/>
        </p:nvSpPr>
        <p:spPr>
          <a:xfrm>
            <a:off x="7543800" y="432511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6" name="Image 8" descr="CheckCirc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1582" y="4412894"/>
            <a:ext cx="190195" cy="1901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00100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Write system dirs</a:t>
            </a:r>
            <a:endParaRPr lang="en-US" sz="1300" dirty="0"/>
          </a:p>
        </p:txBody>
      </p:sp>
      <p:sp>
        <p:nvSpPr>
          <p:cNvPr id="48" name="card"/>
          <p:cNvSpPr/>
          <p:nvPr/>
        </p:nvSpPr>
        <p:spPr>
          <a:xfrm>
            <a:off x="9692640" y="416052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icon-circle-FaCheckCircle"/>
          <p:cNvSpPr/>
          <p:nvPr/>
        </p:nvSpPr>
        <p:spPr>
          <a:xfrm>
            <a:off x="9829800" y="432511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0" name="Image 9" descr="CheckCircl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7582" y="4412894"/>
            <a:ext cx="190195" cy="19019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1028700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Privilege escalation</a:t>
            </a:r>
            <a:endParaRPr lang="en-US" sz="1300" dirty="0"/>
          </a:p>
        </p:txBody>
      </p:sp>
      <p:sp>
        <p:nvSpPr>
          <p:cNvPr id="52" name="card"/>
          <p:cNvSpPr/>
          <p:nvPr/>
        </p:nvSpPr>
        <p:spPr>
          <a:xfrm>
            <a:off x="548640" y="50292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3" name="icon-circle-FaCheckCircle"/>
          <p:cNvSpPr/>
          <p:nvPr/>
        </p:nvSpPr>
        <p:spPr>
          <a:xfrm>
            <a:off x="685800" y="519379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4" name="Image 10" descr="CheckCircl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3582" y="5281574"/>
            <a:ext cx="190195" cy="1901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1143000" y="5212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Symlink artifact</a:t>
            </a:r>
            <a:endParaRPr lang="en-US" sz="1300" dirty="0"/>
          </a:p>
        </p:txBody>
      </p:sp>
      <p:sp>
        <p:nvSpPr>
          <p:cNvPr id="56" name="card"/>
          <p:cNvSpPr/>
          <p:nvPr/>
        </p:nvSpPr>
        <p:spPr>
          <a:xfrm>
            <a:off x="2834640" y="50292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7" name="icon-circle-FaCheckCircle"/>
          <p:cNvSpPr/>
          <p:nvPr/>
        </p:nvSpPr>
        <p:spPr>
          <a:xfrm>
            <a:off x="2971800" y="519379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8" name="Image 11" descr="CheckCircl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59582" y="5281574"/>
            <a:ext cx="190195" cy="190195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3429000" y="5212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Ignore SIGTERM</a:t>
            </a:r>
            <a:endParaRPr lang="en-US" sz="1300" dirty="0"/>
          </a:p>
        </p:txBody>
      </p:sp>
      <p:sp>
        <p:nvSpPr>
          <p:cNvPr id="60" name="card"/>
          <p:cNvSpPr/>
          <p:nvPr/>
        </p:nvSpPr>
        <p:spPr>
          <a:xfrm>
            <a:off x="5120640" y="50292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1" name="icon-circle-FaCheckCircle"/>
          <p:cNvSpPr/>
          <p:nvPr/>
        </p:nvSpPr>
        <p:spPr>
          <a:xfrm>
            <a:off x="5257800" y="519379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2" name="Image 12" descr="CheckCircle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45582" y="5281574"/>
            <a:ext cx="190195" cy="190195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5715000" y="5212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Background process</a:t>
            </a:r>
            <a:endParaRPr lang="en-US" sz="1300" dirty="0"/>
          </a:p>
        </p:txBody>
      </p:sp>
      <p:sp>
        <p:nvSpPr>
          <p:cNvPr id="64" name="card"/>
          <p:cNvSpPr/>
          <p:nvPr/>
        </p:nvSpPr>
        <p:spPr>
          <a:xfrm>
            <a:off x="7406640" y="50292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5" name="icon-circle-FaCheckCircle"/>
          <p:cNvSpPr/>
          <p:nvPr/>
        </p:nvSpPr>
        <p:spPr>
          <a:xfrm>
            <a:off x="7543800" y="519379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6" name="Image 13" descr="CheckCircle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31582" y="5281574"/>
            <a:ext cx="190195" cy="190195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8001000" y="5212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Forge result</a:t>
            </a:r>
            <a:endParaRPr lang="en-US" sz="1300" dirty="0"/>
          </a:p>
        </p:txBody>
      </p:sp>
      <p:sp>
        <p:nvSpPr>
          <p:cNvPr id="68" name="card"/>
          <p:cNvSpPr/>
          <p:nvPr/>
        </p:nvSpPr>
        <p:spPr>
          <a:xfrm>
            <a:off x="9692640" y="50292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9" name="icon-circle-FaCheckCircle"/>
          <p:cNvSpPr/>
          <p:nvPr/>
        </p:nvSpPr>
        <p:spPr>
          <a:xfrm>
            <a:off x="9829800" y="5193792"/>
            <a:ext cx="365760" cy="3657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0" name="Image 14" descr="CheckCircle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17582" y="5281574"/>
            <a:ext cx="190195" cy="190195"/>
          </a:xfrm>
          <a:prstGeom prst="rect">
            <a:avLst/>
          </a:prstGeom>
        </p:spPr>
      </p:pic>
      <p:sp>
        <p:nvSpPr>
          <p:cNvPr id="71" name="Text 54"/>
          <p:cNvSpPr txBox="1"/>
          <p:nvPr/>
        </p:nvSpPr>
        <p:spPr>
          <a:xfrm>
            <a:off x="10287000" y="5212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Persist between runs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Run it yourself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Commands and the output you should expect</a:t>
            </a:r>
            <a:endParaRPr lang="en-US" sz="1800" dirty="0"/>
          </a:p>
        </p:txBody>
      </p:sp>
      <p:sp>
        <p:nvSpPr>
          <p:cNvPr id="4" name="icon-circle-FaPlay"/>
          <p:cNvSpPr/>
          <p:nvPr/>
        </p:nvSpPr>
        <p:spPr>
          <a:xfrm>
            <a:off x="731520" y="137160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613002"/>
            <a:ext cx="523037" cy="52303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Set up in three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Needs Python 3.10+ and Docker (Docker Desktop on Windows and macOS). Start Docker first.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step-number"/>
          <p:cNvSpPr txBox="1"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84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Install</a:t>
            </a:r>
            <a:endParaRPr lang="en-US" sz="2000" dirty="0"/>
          </a:p>
        </p:txBody>
      </p:sp>
      <p:sp>
        <p:nvSpPr>
          <p:cNvPr id="7" name="code-block"/>
          <p:cNvSpPr txBox="1"/>
          <p:nvPr/>
        </p:nvSpPr>
        <p:spPr>
          <a:xfrm>
            <a:off x="777240" y="2743200"/>
            <a:ext cx="3017520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-3.12 -m venv .venv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.\.venv\Scripts\Activate.ps1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".[dev,sandbox,service]"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Windows shown; on macOS/Linux use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343400" y="182880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step-number"/>
          <p:cNvSpPr txBox="1"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084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Build the image</a:t>
            </a:r>
            <a:endParaRPr lang="en-US" sz="2000" dirty="0"/>
          </a:p>
        </p:txBody>
      </p:sp>
      <p:sp>
        <p:nvSpPr>
          <p:cNvPr id="13" name="code-block"/>
          <p:cNvSpPr txBox="1"/>
          <p:nvPr/>
        </p:nvSpPr>
        <p:spPr>
          <a:xfrm>
            <a:off x="4572000" y="2743200"/>
            <a:ext cx="3017520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agentkit-sandbox:dev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sandbox_image/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Expect, after a few minutes: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...agentkit-sandbox:dev done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138160" y="182880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step-number"/>
          <p:cNvSpPr txBox="1"/>
          <p:nvPr/>
        </p:nvSpPr>
        <p:spPr>
          <a:xfrm>
            <a:off x="8366760" y="201168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084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Run the tests</a:t>
            </a:r>
            <a:endParaRPr lang="en-US" sz="2000" dirty="0"/>
          </a:p>
        </p:txBody>
      </p:sp>
      <p:sp>
        <p:nvSpPr>
          <p:cNvPr id="19" name="code-block"/>
          <p:cNvSpPr txBox="1"/>
          <p:nvPr/>
        </p:nvSpPr>
        <p:spPr>
          <a:xfrm>
            <a:off x="8366760" y="2743200"/>
            <a:ext cx="3017520" cy="141732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-m docker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Expect: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800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passed, 3 skipped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Watch the attacks get blocked</a:t>
            </a:r>
            <a:endParaRPr lang="en-US" sz="3400" dirty="0"/>
          </a:p>
        </p:txBody>
      </p:sp>
      <p:sp>
        <p:nvSpPr>
          <p:cNvPr id="3" name="code-block"/>
          <p:cNvSpPr txBox="1"/>
          <p:nvPr/>
        </p:nvSpPr>
        <p:spPr>
          <a:xfrm>
            <a:off x="548640" y="1371600"/>
            <a:ext cx="384048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demo_attacks.py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Runs 15 kinds of hostile code inside the sandbox and checks each result.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“ok” in the status column is fine: the code ran but could do no harm.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Times vary by machine. The script exits with an error if anything gets through.</a:t>
            </a:r>
            <a:endParaRPr lang="en-US" sz="1600" dirty="0"/>
          </a:p>
        </p:txBody>
      </p:sp>
      <p:sp>
        <p:nvSpPr>
          <p:cNvPr id="7" name="code-block"/>
          <p:cNvSpPr txBox="1"/>
          <p:nvPr/>
        </p:nvSpPr>
        <p:spPr>
          <a:xfrm>
            <a:off x="4754880" y="1371600"/>
            <a:ext cx="6858000" cy="4709160"/>
          </a:xfrm>
          <a:prstGeom prst="roundRect">
            <a:avLst>
              <a:gd name="adj" fmla="val 116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                    status  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host files         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host env vars      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(DNS + TCP)     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infinite loop              timeout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 2 GB              oom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bomb                  timeout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 disk (1 GB)        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100 MB            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/usr, /etc, /opt  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 escalation    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 symlink        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SIGTERM             timeout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background process   ok       BLOCKED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 runner output        error    BLOCKED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15/15 attacks blocked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Watch the agent analyse a CSV and draw a chart</a:t>
            </a:r>
            <a:endParaRPr lang="en-US" sz="3400" dirty="0"/>
          </a:p>
        </p:txBody>
      </p:sp>
      <p:sp>
        <p:nvSpPr>
          <p:cNvPr id="3" name="code-block"/>
          <p:cNvSpPr txBox="1"/>
          <p:nvPr/>
        </p:nvSpPr>
        <p:spPr>
          <a:xfrm>
            <a:off x="548640" y="1371600"/>
            <a:ext cx="548640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demo_sandbox.py</a:t>
            </a:r>
            <a:endParaRPr lang="en-US" sz="1400" dirty="0"/>
          </a:p>
        </p:txBody>
      </p:sp>
      <p:sp>
        <p:nvSpPr>
          <p:cNvPr id="4" name="code-block"/>
          <p:cNvSpPr txBox="1"/>
          <p:nvPr/>
        </p:nvSpPr>
        <p:spPr>
          <a:xfrm>
            <a:off x="548640" y="2103120"/>
            <a:ext cx="5486400" cy="3291840"/>
          </a:xfrm>
          <a:prstGeom prst="roundRect">
            <a:avLst>
              <a:gd name="adj" fmla="val 1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run_python -&gt; error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KeyError: 'profit'   (deliberate bug)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run_python -&gt; 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mean profit: 59.17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best month: 2024-06 profit 76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final_answer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Profit grew from 40 to 76;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June was the best month.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artifact pnl.png (38179 bytes)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532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“AI” is scripted, so no API key is needed. It makes a mistake first so you can see it recover.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6400800" y="1371600"/>
            <a:ext cx="5212080" cy="4709160"/>
          </a:xfrm>
          <a:prstGeom prst="roundRect">
            <a:avLst>
              <a:gd name="adj" fmla="val 15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Image 0" descr="Line chart of monthly revenue, cost and profit produced by the sandbox, January to June 20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554480"/>
            <a:ext cx="4846320" cy="3639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0" y="5394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pnl.png: the chart the sandboxed code produced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Run the executor web service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Terminal 1: start the service</a:t>
            </a:r>
            <a:endParaRPr lang="en-US" sz="1600" dirty="0"/>
          </a:p>
        </p:txBody>
      </p:sp>
      <p:sp>
        <p:nvSpPr>
          <p:cNvPr id="4" name="code-block"/>
          <p:cNvSpPr txBox="1"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$env:AGENTKIT_EXECUTOR_TOKEN = "my-secret-token"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services.executor.app:app --port 8080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Terminal 2: send code</a:t>
            </a:r>
            <a:endParaRPr lang="en-US" sz="1600" dirty="0"/>
          </a:p>
        </p:txBody>
      </p:sp>
      <p:sp>
        <p:nvSpPr>
          <p:cNvPr id="6" name="code-block"/>
          <p:cNvSpPr txBox="1"/>
          <p:nvPr/>
        </p:nvSpPr>
        <p:spPr>
          <a:xfrm>
            <a:off x="548640" y="3154680"/>
            <a:ext cx="11064240" cy="105156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curl.exe -X POST http://localhost:8080/v1/executions `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"Authorization: Bearer my-secret-token" -H "Content-Type: application/json" `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'{\"code\": \"print(sum(range(10)))\"}'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Expected answer</a:t>
            </a:r>
            <a:endParaRPr lang="en-US" sz="1600" dirty="0"/>
          </a:p>
        </p:txBody>
      </p:sp>
      <p:sp>
        <p:nvSpPr>
          <p:cNvPr id="8" name="code-block"/>
          <p:cNvSpPr txBox="1"/>
          <p:nvPr/>
        </p:nvSpPr>
        <p:spPr>
          <a:xfrm>
            <a:off x="548640" y="4800600"/>
            <a:ext cx="11064240" cy="8229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{"status":"ok","exit_code":0,"stdout":"45\n","backend":"docker",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"limits":{"isolated":true,"network":"none","memory_mb":512, ...}}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token gives 401. Without AGENTKIT_EXECUTOR_TOKEN the service refuses to start.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problems and fixes</a:t>
            </a:r>
            <a:endParaRPr lang="en-US" sz="3400" dirty="0"/>
          </a:p>
        </p:txBody>
      </p:sp>
      <p:graphicFrame>
        <p:nvGraphicFramePr>
          <p:cNvPr id="24" name="troubleshoot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You see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Docker daemon is not reachable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Start Docker Desktop and wait until it is running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sandbox image ... not found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docker build -t agentkit-sandbox:dev sandbox_image/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Image build: Read timed out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Slow network; run the build again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Docker tests show as skipped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Docker is off or the image is missing; the reason says which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Each run takes 5+ seconds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Normal on Docker Desktop: fresh container plus pandas import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Runner copy test fails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Copy agentkit/sandbox/runner.py to sandbox_image/ and rebuild</a:t>
                      </a:r>
                      <a:endParaRPr lang="en-US" sz="1400" dirty="0"/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Key takeaways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6"/>
                </a:solidFill>
              </a:rPr>
              <a:t>Isolation comes from the container, never from reading the code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6"/>
                </a:solidFill>
              </a:rPr>
              <a:t>Everything coming out of the sandbox is checked before it is trusted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6"/>
                </a:solidFill>
              </a:rPr>
              <a:t>Many independent walls, and it refuses to run if any is missing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accent6"/>
                </a:solidFill>
              </a:rPr>
              <a:t>Learn more: docs/GUIDE.md and docs/SECURITY.md</a:t>
            </a:r>
            <a:endParaRPr lang="en-US" sz="2200" dirty="0"/>
          </a:p>
        </p:txBody>
      </p:sp>
      <p:sp>
        <p:nvSpPr>
          <p:cNvPr id="4" name="icon-circle-FaShieldAlt"/>
          <p:cNvSpPr/>
          <p:nvPr/>
        </p:nvSpPr>
        <p:spPr>
          <a:xfrm>
            <a:off x="731520" y="7315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Shield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972922"/>
            <a:ext cx="523037" cy="5230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tainment">
  <a:themeElements>
    <a:clrScheme name="Containment">
      <a:dk1>
        <a:srgbClr val="16202A"/>
      </a:dk1>
      <a:lt1>
        <a:srgbClr val="FFFFFF"/>
      </a:lt1>
      <a:dk2>
        <a:srgbClr val="334155"/>
      </a:dk2>
      <a:lt2>
        <a:srgbClr val="EEF2F6"/>
      </a:lt2>
      <a:accent1>
        <a:srgbClr val="F59E0B"/>
      </a:accent1>
      <a:accent2>
        <a:srgbClr val="0F9D8A"/>
      </a:accent2>
      <a:accent3>
        <a:srgbClr val="E2445C"/>
      </a:accent3>
      <a:accent4>
        <a:srgbClr val="3B6EA8"/>
      </a:accent4>
      <a:accent5>
        <a:srgbClr val="64748B"/>
      </a:accent5>
      <a:accent6>
        <a:srgbClr val="FCE7B2"/>
      </a:accent6>
      <a:hlink>
        <a:srgbClr val="3B6EA8"/>
      </a:hlink>
      <a:folHlink>
        <a:srgbClr val="64748B"/>
      </a:folHlink>
    </a:clrScheme>
    <a:fontScheme name="Containmen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Sandboxed Code Executor</dc:title>
  <dc:subject>PptxGenJS Presentation</dc:subject>
  <dc:creator>agent-lab</dc:creator>
  <cp:lastModifiedBy>agent-lab</cp:lastModifiedBy>
  <cp:revision>1</cp:revision>
  <dcterms:created xsi:type="dcterms:W3CDTF">2026-10-29T17:37:41Z</dcterms:created>
  <dcterms:modified xsi:type="dcterms:W3CDTF">2026-10-29T17:37:41Z</dcterms:modified>
</cp:coreProperties>
</file>